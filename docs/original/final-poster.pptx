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30274895" cy="4280344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1092" y="-1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78EFA-E7D9-4E19-B5E1-6BC53E90EF65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10F14-F496-4FDB-9CC6-AE987F6CB98A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10F14-F496-4FDB-9CC6-AE987F6CB98A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5"/>
            </a:lvl1pPr>
            <a:lvl2pPr marL="1513840" indent="0" algn="ctr">
              <a:buNone/>
              <a:defRPr sz="6620"/>
            </a:lvl2pPr>
            <a:lvl3pPr marL="3027680" indent="0" algn="ctr">
              <a:buNone/>
              <a:defRPr sz="5960"/>
            </a:lvl3pPr>
            <a:lvl4pPr marL="4541520" indent="0" algn="ctr">
              <a:buNone/>
              <a:defRPr sz="5295"/>
            </a:lvl4pPr>
            <a:lvl5pPr marL="6054725" indent="0" algn="ctr">
              <a:buNone/>
              <a:defRPr sz="5295"/>
            </a:lvl5pPr>
            <a:lvl6pPr marL="7568565" indent="0" algn="ctr">
              <a:buNone/>
              <a:defRPr sz="5295"/>
            </a:lvl6pPr>
            <a:lvl7pPr marL="9082405" indent="0" algn="ctr">
              <a:buNone/>
              <a:defRPr sz="5295"/>
            </a:lvl7pPr>
            <a:lvl8pPr marL="10596245" indent="0" algn="ctr">
              <a:buNone/>
              <a:defRPr sz="5295"/>
            </a:lvl8pPr>
            <a:lvl9pPr marL="12110085" indent="0" algn="ctr">
              <a:buNone/>
              <a:defRPr sz="529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5">
                <a:solidFill>
                  <a:schemeClr val="tx1"/>
                </a:solidFill>
              </a:defRPr>
            </a:lvl1pPr>
            <a:lvl2pPr marL="1513840" indent="0">
              <a:buNone/>
              <a:defRPr sz="6620">
                <a:solidFill>
                  <a:schemeClr val="tx1">
                    <a:tint val="75000"/>
                  </a:schemeClr>
                </a:solidFill>
              </a:defRPr>
            </a:lvl2pPr>
            <a:lvl3pPr marL="3027680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520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4pPr>
            <a:lvl5pPr marL="605472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5pPr>
            <a:lvl6pPr marL="756856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6pPr>
            <a:lvl7pPr marL="908240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7pPr>
            <a:lvl8pPr marL="1059624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8pPr>
            <a:lvl9pPr marL="12110085" indent="0">
              <a:buNone/>
              <a:defRPr sz="52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840" indent="0">
              <a:buNone/>
              <a:defRPr sz="6620" b="1"/>
            </a:lvl2pPr>
            <a:lvl3pPr marL="3027680" indent="0">
              <a:buNone/>
              <a:defRPr sz="5960" b="1"/>
            </a:lvl3pPr>
            <a:lvl4pPr marL="4541520" indent="0">
              <a:buNone/>
              <a:defRPr sz="5295" b="1"/>
            </a:lvl4pPr>
            <a:lvl5pPr marL="6054725" indent="0">
              <a:buNone/>
              <a:defRPr sz="5295" b="1"/>
            </a:lvl5pPr>
            <a:lvl6pPr marL="7568565" indent="0">
              <a:buNone/>
              <a:defRPr sz="5295" b="1"/>
            </a:lvl6pPr>
            <a:lvl7pPr marL="9082405" indent="0">
              <a:buNone/>
              <a:defRPr sz="5295" b="1"/>
            </a:lvl7pPr>
            <a:lvl8pPr marL="10596245" indent="0">
              <a:buNone/>
              <a:defRPr sz="5295" b="1"/>
            </a:lvl8pPr>
            <a:lvl9pPr marL="12110085" indent="0">
              <a:buNone/>
              <a:defRPr sz="529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5" b="1"/>
            </a:lvl1pPr>
            <a:lvl2pPr marL="1513840" indent="0">
              <a:buNone/>
              <a:defRPr sz="6620" b="1"/>
            </a:lvl2pPr>
            <a:lvl3pPr marL="3027680" indent="0">
              <a:buNone/>
              <a:defRPr sz="5960" b="1"/>
            </a:lvl3pPr>
            <a:lvl4pPr marL="4541520" indent="0">
              <a:buNone/>
              <a:defRPr sz="5295" b="1"/>
            </a:lvl4pPr>
            <a:lvl5pPr marL="6054725" indent="0">
              <a:buNone/>
              <a:defRPr sz="5295" b="1"/>
            </a:lvl5pPr>
            <a:lvl6pPr marL="7568565" indent="0">
              <a:buNone/>
              <a:defRPr sz="5295" b="1"/>
            </a:lvl6pPr>
            <a:lvl7pPr marL="9082405" indent="0">
              <a:buNone/>
              <a:defRPr sz="5295" b="1"/>
            </a:lvl7pPr>
            <a:lvl8pPr marL="10596245" indent="0">
              <a:buNone/>
              <a:defRPr sz="5295" b="1"/>
            </a:lvl8pPr>
            <a:lvl9pPr marL="12110085" indent="0">
              <a:buNone/>
              <a:defRPr sz="529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0"/>
            </a:lvl2pPr>
            <a:lvl3pPr>
              <a:defRPr sz="7945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5"/>
            </a:lvl1pPr>
            <a:lvl2pPr marL="1513840" indent="0">
              <a:buNone/>
              <a:defRPr sz="4635"/>
            </a:lvl2pPr>
            <a:lvl3pPr marL="3027680" indent="0">
              <a:buNone/>
              <a:defRPr sz="3975"/>
            </a:lvl3pPr>
            <a:lvl4pPr marL="4541520" indent="0">
              <a:buNone/>
              <a:defRPr sz="3310"/>
            </a:lvl4pPr>
            <a:lvl5pPr marL="6054725" indent="0">
              <a:buNone/>
              <a:defRPr sz="3310"/>
            </a:lvl5pPr>
            <a:lvl6pPr marL="7568565" indent="0">
              <a:buNone/>
              <a:defRPr sz="3310"/>
            </a:lvl6pPr>
            <a:lvl7pPr marL="9082405" indent="0">
              <a:buNone/>
              <a:defRPr sz="3310"/>
            </a:lvl7pPr>
            <a:lvl8pPr marL="10596245" indent="0">
              <a:buNone/>
              <a:defRPr sz="3310"/>
            </a:lvl8pPr>
            <a:lvl9pPr marL="12110085" indent="0">
              <a:buNone/>
              <a:defRPr sz="331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840" indent="0">
              <a:buNone/>
              <a:defRPr sz="9270"/>
            </a:lvl2pPr>
            <a:lvl3pPr marL="3027680" indent="0">
              <a:buNone/>
              <a:defRPr sz="7945"/>
            </a:lvl3pPr>
            <a:lvl4pPr marL="4541520" indent="0">
              <a:buNone/>
              <a:defRPr sz="6620"/>
            </a:lvl4pPr>
            <a:lvl5pPr marL="6054725" indent="0">
              <a:buNone/>
              <a:defRPr sz="6620"/>
            </a:lvl5pPr>
            <a:lvl6pPr marL="7568565" indent="0">
              <a:buNone/>
              <a:defRPr sz="6620"/>
            </a:lvl6pPr>
            <a:lvl7pPr marL="9082405" indent="0">
              <a:buNone/>
              <a:defRPr sz="6620"/>
            </a:lvl7pPr>
            <a:lvl8pPr marL="10596245" indent="0">
              <a:buNone/>
              <a:defRPr sz="6620"/>
            </a:lvl8pPr>
            <a:lvl9pPr marL="12110085" indent="0">
              <a:buNone/>
              <a:defRPr sz="662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5"/>
            </a:lvl1pPr>
            <a:lvl2pPr marL="1513840" indent="0">
              <a:buNone/>
              <a:defRPr sz="4635"/>
            </a:lvl2pPr>
            <a:lvl3pPr marL="3027680" indent="0">
              <a:buNone/>
              <a:defRPr sz="3975"/>
            </a:lvl3pPr>
            <a:lvl4pPr marL="4541520" indent="0">
              <a:buNone/>
              <a:defRPr sz="3310"/>
            </a:lvl4pPr>
            <a:lvl5pPr marL="6054725" indent="0">
              <a:buNone/>
              <a:defRPr sz="3310"/>
            </a:lvl5pPr>
            <a:lvl6pPr marL="7568565" indent="0">
              <a:buNone/>
              <a:defRPr sz="3310"/>
            </a:lvl6pPr>
            <a:lvl7pPr marL="9082405" indent="0">
              <a:buNone/>
              <a:defRPr sz="3310"/>
            </a:lvl7pPr>
            <a:lvl8pPr marL="10596245" indent="0">
              <a:buNone/>
              <a:defRPr sz="3310"/>
            </a:lvl8pPr>
            <a:lvl9pPr marL="12110085" indent="0">
              <a:buNone/>
              <a:defRPr sz="3310"/>
            </a:lvl9pPr>
          </a:lstStyle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54CA9-29D8-4660-8165-0FC708E91F27}" type="datetimeFigureOut">
              <a:rPr lang="ko-KR" altLang="en-US" smtClean="0"/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D2238-62A1-4F6B-A1EC-DA6628A8B8A8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027680" rtl="0" eaLnBrk="1" latinLnBrk="1" hangingPunct="1">
        <a:lnSpc>
          <a:spcPct val="90000"/>
        </a:lnSpc>
        <a:spcBef>
          <a:spcPct val="0"/>
        </a:spcBef>
        <a:buNone/>
        <a:defRPr sz="145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920" indent="-756920" algn="l" defTabSz="3027680" rtl="0" eaLnBrk="1" latinLnBrk="1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70" kern="1200">
          <a:solidFill>
            <a:schemeClr val="tx1"/>
          </a:solidFill>
          <a:latin typeface="+mn-lt"/>
          <a:ea typeface="+mn-ea"/>
          <a:cs typeface="+mn-cs"/>
        </a:defRPr>
      </a:lvl1pPr>
      <a:lvl2pPr marL="2270760" indent="-756920" algn="l" defTabSz="3027680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5" kern="1200">
          <a:solidFill>
            <a:schemeClr val="tx1"/>
          </a:solidFill>
          <a:latin typeface="+mn-lt"/>
          <a:ea typeface="+mn-ea"/>
          <a:cs typeface="+mn-cs"/>
        </a:defRPr>
      </a:lvl2pPr>
      <a:lvl3pPr marL="3784600" indent="-756920" algn="l" defTabSz="3027680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7805" indent="-756920" algn="l" defTabSz="3027680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645" indent="-756920" algn="l" defTabSz="3027680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485" indent="-756920" algn="l" defTabSz="3027680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25" indent="-756920" algn="l" defTabSz="3027680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165" indent="-756920" algn="l" defTabSz="3027680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7005" indent="-756920" algn="l" defTabSz="3027680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840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680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520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725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565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05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45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10085" algn="l" defTabSz="3027680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0"/>
            <a:ext cx="30275213" cy="5314950"/>
          </a:xfrm>
          <a:prstGeom prst="rect">
            <a:avLst/>
          </a:prstGeom>
          <a:blipFill dpi="0" rotWithShape="1">
            <a:blip r:embed="rId1">
              <a:alphaModFix amt="31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隶书" panose="020105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4050" y="1549479"/>
            <a:ext cx="4254817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3800" b="1" dirty="0">
                <a:latin typeface="隶书" panose="02010509060101010101" pitchFamily="49" charset="-122"/>
                <a:ea typeface="隶书" panose="02010509060101010101" pitchFamily="49" charset="-122"/>
              </a:rPr>
              <a:t>中国传统乐器知识图谱构建与应用</a:t>
            </a:r>
            <a:endParaRPr lang="zh-CN" altLang="en-US" sz="13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8881" y="3940045"/>
            <a:ext cx="17697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7200" dirty="0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7200" dirty="0">
                <a:latin typeface="隶书" panose="02010509060101010101" pitchFamily="49" charset="-122"/>
                <a:ea typeface="隶书" panose="02010509060101010101" pitchFamily="49" charset="-122"/>
              </a:rPr>
              <a:t>组：</a:t>
            </a:r>
            <a:r>
              <a:rPr lang="zh-CN" altLang="en-US" sz="7200" dirty="0">
                <a:solidFill>
                  <a:srgbClr val="232323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李希楠、钱正洋、崔家伟，郑智元</a:t>
            </a:r>
            <a:endParaRPr lang="ko-KR" altLang="en-US" sz="7200" dirty="0">
              <a:latin typeface="隶书" panose="020105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150" y="22326834"/>
            <a:ext cx="3905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latin typeface="隶书" panose="02010509060101010101" pitchFamily="49" charset="-122"/>
                <a:ea typeface="隶书" panose="02010509060101010101" pitchFamily="49" charset="-122"/>
              </a:rPr>
              <a:t>核心功能</a:t>
            </a:r>
            <a:endParaRPr lang="ko-KR" altLang="en-US" sz="7200" b="1" dirty="0">
              <a:latin typeface="隶书" panose="020105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8150" y="5319831"/>
            <a:ext cx="4133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latin typeface="隶书" panose="02010509060101010101" pitchFamily="49" charset="-122"/>
                <a:ea typeface="隶书" panose="02010509060101010101" pitchFamily="49" charset="-122"/>
              </a:rPr>
              <a:t>项目简介</a:t>
            </a:r>
            <a:endParaRPr lang="ko-KR" altLang="en-US" sz="7200" b="1" dirty="0">
              <a:latin typeface="隶书" panose="020105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67031" y="6391750"/>
            <a:ext cx="23955682" cy="506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None/>
            </a:pP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国传统乐器考古实物具有重要的历史、艺术与文化价值，但相关资料多以文本条目形式分散记载，信息结构化程度较低，难以支持系统检索与关联分析。现有研究也多以西方乐器分类体系为参照，对中国传统乐器自身的器物形制、出土信息、历史语境与文化内涵缺乏多维度建模。</a:t>
            </a:r>
            <a:endParaRPr lang="zh-CN" altLang="en-US" sz="4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spcBef>
                <a:spcPts val="1800"/>
              </a:spcBef>
              <a:buNone/>
            </a:pP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本项目以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《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中国音乐文物大系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》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中的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《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湖北卷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》《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北京卷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》《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陕西卷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》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为代表性数据来源，基于 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classical-music 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本体框架，结合 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BERT 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与大语言模型进行实体识别和关系抽取，构建以考古出土乐器为核心的中国传统乐器知识图谱。项目旨在实现乐器文物信息的结构化整理、语义检索、可视化展示与关联分析，为中国传统音乐文物的数字化保护与知识化研究提供支持。</a:t>
            </a:r>
            <a:endParaRPr lang="zh-CN" altLang="en-US" sz="4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1" name="AutoShape 6" descr="中国音楽文物大系・甘粛巻"/>
          <p:cNvSpPr>
            <a:spLocks noChangeAspect="1" noChangeArrowheads="1"/>
          </p:cNvSpPr>
          <p:nvPr/>
        </p:nvSpPr>
        <p:spPr bwMode="auto">
          <a:xfrm>
            <a:off x="14984413" y="212486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516041" y="6525093"/>
            <a:ext cx="4494109" cy="4828212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38150" y="11982376"/>
            <a:ext cx="3905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latin typeface="隶书" panose="02010509060101010101" pitchFamily="49" charset="-122"/>
                <a:ea typeface="隶书" panose="02010509060101010101" pitchFamily="49" charset="-122"/>
              </a:rPr>
              <a:t>研究框架</a:t>
            </a:r>
            <a:endParaRPr lang="en-US" altLang="zh-CN" sz="7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3455734" y="13496560"/>
            <a:ext cx="23058945" cy="2529938"/>
            <a:chOff x="681580" y="14208735"/>
            <a:chExt cx="23058945" cy="2529938"/>
          </a:xfrm>
        </p:grpSpPr>
        <p:sp>
          <p:nvSpPr>
            <p:cNvPr id="95" name="Rounded Rectangle 158"/>
            <p:cNvSpPr/>
            <p:nvPr/>
          </p:nvSpPr>
          <p:spPr>
            <a:xfrm>
              <a:off x="13152050" y="14208735"/>
              <a:ext cx="2340258" cy="2410395"/>
            </a:xfrm>
            <a:prstGeom prst="roundRect">
              <a:avLst/>
            </a:prstGeom>
            <a:solidFill>
              <a:srgbClr val="FDF9F5"/>
            </a:solidFill>
            <a:ln w="12700">
              <a:solidFill>
                <a:srgbClr val="E1C8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2945127" y="15630403"/>
              <a:ext cx="2824382" cy="107721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2323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关系抽取</a:t>
              </a:r>
              <a:endParaRPr lang="en-US" altLang="zh-CN" sz="3200" b="1" dirty="0">
                <a:solidFill>
                  <a:srgbClr val="2323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3200" b="1" dirty="0">
                  <a:solidFill>
                    <a:srgbClr val="2323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3200" b="1" dirty="0">
                  <a:solidFill>
                    <a:srgbClr val="2323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LLM</a:t>
              </a:r>
              <a:r>
                <a:rPr lang="zh-CN" altLang="en-US" sz="3200" b="1" dirty="0">
                  <a:solidFill>
                    <a:srgbClr val="2323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sz="3200" b="1" dirty="0">
                <a:solidFill>
                  <a:srgbClr val="2323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Rounded Rectangle 158"/>
            <p:cNvSpPr/>
            <p:nvPr/>
          </p:nvSpPr>
          <p:spPr>
            <a:xfrm>
              <a:off x="16977039" y="14248910"/>
              <a:ext cx="2340258" cy="2410395"/>
            </a:xfrm>
            <a:prstGeom prst="roundRect">
              <a:avLst/>
            </a:prstGeom>
            <a:solidFill>
              <a:srgbClr val="FDF9F5"/>
            </a:solidFill>
            <a:ln w="12700">
              <a:solidFill>
                <a:srgbClr val="E1C8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6734977" y="15940928"/>
              <a:ext cx="2824382" cy="5232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2323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知识图谱构建</a:t>
              </a:r>
              <a:endParaRPr sz="2800" b="1" dirty="0">
                <a:solidFill>
                  <a:srgbClr val="2323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ounded Rectangle 158"/>
            <p:cNvSpPr/>
            <p:nvPr/>
          </p:nvSpPr>
          <p:spPr>
            <a:xfrm>
              <a:off x="21096552" y="14248767"/>
              <a:ext cx="2340258" cy="2410395"/>
            </a:xfrm>
            <a:prstGeom prst="roundRect">
              <a:avLst/>
            </a:prstGeom>
            <a:solidFill>
              <a:srgbClr val="FDF9F5"/>
            </a:solidFill>
            <a:ln w="12700">
              <a:solidFill>
                <a:srgbClr val="E1C8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0916143" y="15938454"/>
              <a:ext cx="2824382" cy="5232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2323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设计检索系统</a:t>
              </a:r>
              <a:endParaRPr sz="2800" b="1" dirty="0">
                <a:solidFill>
                  <a:srgbClr val="232323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0" name="그룹 119"/>
            <p:cNvGrpSpPr/>
            <p:nvPr/>
          </p:nvGrpSpPr>
          <p:grpSpPr>
            <a:xfrm>
              <a:off x="681580" y="14248911"/>
              <a:ext cx="11153266" cy="2489762"/>
              <a:chOff x="681580" y="14248911"/>
              <a:chExt cx="11153266" cy="2489762"/>
            </a:xfrm>
          </p:grpSpPr>
          <p:sp>
            <p:nvSpPr>
              <p:cNvPr id="92" name="Rounded Rectangle 158"/>
              <p:cNvSpPr/>
              <p:nvPr/>
            </p:nvSpPr>
            <p:spPr>
              <a:xfrm>
                <a:off x="9252526" y="14248911"/>
                <a:ext cx="2340258" cy="2410395"/>
              </a:xfrm>
              <a:prstGeom prst="roundRect">
                <a:avLst/>
              </a:prstGeom>
              <a:solidFill>
                <a:srgbClr val="FDF9F5"/>
              </a:solidFill>
              <a:ln w="12700">
                <a:solidFill>
                  <a:srgbClr val="E1C8B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9010464" y="15661455"/>
                <a:ext cx="2824382" cy="107721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sz="3200" b="1" dirty="0">
                    <a:solidFill>
                      <a:srgbClr val="23232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实体识别</a:t>
                </a:r>
                <a:endParaRPr lang="en-US" altLang="zh-CN" sz="3200" b="1" dirty="0">
                  <a:solidFill>
                    <a:srgbClr val="2323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3200" b="1" dirty="0">
                    <a:solidFill>
                      <a:srgbClr val="23232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sz="3200" b="1" dirty="0">
                    <a:solidFill>
                      <a:srgbClr val="23232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BERT</a:t>
                </a:r>
                <a:r>
                  <a:rPr lang="zh-CN" altLang="en-US" sz="3200" b="1" dirty="0">
                    <a:solidFill>
                      <a:srgbClr val="23232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sz="3200" b="1" dirty="0">
                  <a:solidFill>
                    <a:srgbClr val="2323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17" name="그룹 116"/>
              <p:cNvGrpSpPr/>
              <p:nvPr/>
            </p:nvGrpSpPr>
            <p:grpSpPr>
              <a:xfrm>
                <a:off x="681580" y="14252004"/>
                <a:ext cx="7011680" cy="2465890"/>
                <a:chOff x="681580" y="14252004"/>
                <a:chExt cx="7011680" cy="2465890"/>
              </a:xfrm>
            </p:grpSpPr>
            <p:grpSp>
              <p:nvGrpSpPr>
                <p:cNvPr id="116" name="그룹 115"/>
                <p:cNvGrpSpPr/>
                <p:nvPr/>
              </p:nvGrpSpPr>
              <p:grpSpPr>
                <a:xfrm>
                  <a:off x="681580" y="14252004"/>
                  <a:ext cx="2824382" cy="2436596"/>
                  <a:chOff x="681580" y="14252004"/>
                  <a:chExt cx="2824382" cy="2436596"/>
                </a:xfrm>
              </p:grpSpPr>
              <p:sp>
                <p:nvSpPr>
                  <p:cNvPr id="72" name="Rounded Rectangle 158"/>
                  <p:cNvSpPr/>
                  <p:nvPr/>
                </p:nvSpPr>
                <p:spPr>
                  <a:xfrm>
                    <a:off x="923642" y="14278205"/>
                    <a:ext cx="2340258" cy="2410395"/>
                  </a:xfrm>
                  <a:prstGeom prst="roundRect">
                    <a:avLst/>
                  </a:prstGeom>
                  <a:solidFill>
                    <a:srgbClr val="FDF9F5"/>
                  </a:solidFill>
                  <a:ln w="12700">
                    <a:solidFill>
                      <a:srgbClr val="E1C8BE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</a:p>
                </p:txBody>
              </p:sp>
              <p:sp>
                <p:nvSpPr>
                  <p:cNvPr id="74" name="TextBox 73"/>
                  <p:cNvSpPr txBox="1"/>
                  <p:nvPr/>
                </p:nvSpPr>
                <p:spPr>
                  <a:xfrm>
                    <a:off x="681580" y="15797898"/>
                    <a:ext cx="2824382" cy="584775"/>
                  </a:xfrm>
                  <a:prstGeom prst="rect">
                    <a:avLst/>
                  </a:prstGeom>
                  <a:noFill/>
                </p:spPr>
                <p:txBody>
                  <a:bodyPr wrap="square" anchor="t">
                    <a:spAutoFit/>
                  </a:bodyPr>
                  <a:lstStyle/>
                  <a:p>
                    <a:pPr algn="ctr"/>
                    <a:r>
                      <a:rPr sz="3200" b="1" dirty="0" err="1">
                        <a:solidFill>
                          <a:srgbClr val="23232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本体设计</a:t>
                    </a:r>
                    <a:endParaRPr sz="3200" b="1" dirty="0">
                      <a:solidFill>
                        <a:srgbClr val="23232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pic>
                <p:nvPicPr>
                  <p:cNvPr id="76" name="그림 75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82815" y="14252004"/>
                    <a:ext cx="1544779" cy="154477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9" name="Rounded Rectangle 158"/>
                <p:cNvSpPr/>
                <p:nvPr/>
              </p:nvSpPr>
              <p:spPr>
                <a:xfrm>
                  <a:off x="5110940" y="14307499"/>
                  <a:ext cx="2340258" cy="2410395"/>
                </a:xfrm>
                <a:prstGeom prst="roundRect">
                  <a:avLst/>
                </a:prstGeom>
                <a:solidFill>
                  <a:srgbClr val="FDF9F5"/>
                </a:solidFill>
                <a:ln w="12700">
                  <a:solidFill>
                    <a:srgbClr val="E1C8BE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" name="TextBox 89"/>
                <p:cNvSpPr txBox="1"/>
                <p:nvPr/>
              </p:nvSpPr>
              <p:spPr>
                <a:xfrm>
                  <a:off x="4868878" y="15797898"/>
                  <a:ext cx="2824382" cy="584775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ctr"/>
                  <a:r>
                    <a:rPr lang="zh-CN" altLang="en-US" sz="3200" b="1" dirty="0">
                      <a:solidFill>
                        <a:srgbClr val="232323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数据标注</a:t>
                  </a:r>
                  <a:endParaRPr sz="3200" b="1" dirty="0">
                    <a:solidFill>
                      <a:srgbClr val="232323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107" name="그림 106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08869" y="14306936"/>
                  <a:ext cx="1544400" cy="1544400"/>
                </a:xfrm>
                <a:prstGeom prst="rect">
                  <a:avLst/>
                </a:prstGeom>
              </p:spPr>
            </p:pic>
          </p:grpSp>
          <p:pic>
            <p:nvPicPr>
              <p:cNvPr id="109" name="그림 10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55905" y="14306936"/>
                <a:ext cx="1440000" cy="1440000"/>
              </a:xfrm>
              <a:prstGeom prst="rect">
                <a:avLst/>
              </a:prstGeom>
            </p:spPr>
          </p:pic>
        </p:grpSp>
        <p:pic>
          <p:nvPicPr>
            <p:cNvPr id="110" name="그림 10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38801" y="14285055"/>
              <a:ext cx="1544400" cy="1544400"/>
            </a:xfrm>
            <a:prstGeom prst="rect">
              <a:avLst/>
            </a:prstGeom>
          </p:spPr>
        </p:pic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55965" y="14285055"/>
              <a:ext cx="1544400" cy="1544400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488328" y="14330586"/>
              <a:ext cx="1544400" cy="1544400"/>
            </a:xfrm>
            <a:prstGeom prst="rect">
              <a:avLst/>
            </a:prstGeom>
          </p:spPr>
        </p:pic>
      </p:grpSp>
      <p:cxnSp>
        <p:nvCxnSpPr>
          <p:cNvPr id="123" name="직선 화살표 연결선 122"/>
          <p:cNvCxnSpPr>
            <a:stCxn id="72" idx="3"/>
            <a:endCxn id="89" idx="1"/>
          </p:cNvCxnSpPr>
          <p:nvPr/>
        </p:nvCxnSpPr>
        <p:spPr>
          <a:xfrm>
            <a:off x="6038054" y="14771228"/>
            <a:ext cx="1847040" cy="2929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/>
          <p:nvPr/>
        </p:nvCxnSpPr>
        <p:spPr>
          <a:xfrm>
            <a:off x="10266087" y="14771228"/>
            <a:ext cx="1847040" cy="2929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>
            <a:endCxn id="95" idx="1"/>
          </p:cNvCxnSpPr>
          <p:nvPr/>
        </p:nvCxnSpPr>
        <p:spPr>
          <a:xfrm flipV="1">
            <a:off x="14445536" y="14701758"/>
            <a:ext cx="1480668" cy="871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2560919" y="16404336"/>
            <a:ext cx="25153374" cy="573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None/>
            </a:pP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本项目围绕中国传统乐器考古文献的结构化整理与知识组织展开，整体流程包括本体设计、数据标注、实体识别、关系抽取、知识图谱构建与应用检索六个环节。</a:t>
            </a:r>
            <a:endParaRPr lang="zh-CN" altLang="en-US" sz="4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spcBef>
                <a:spcPts val="1800"/>
              </a:spcBef>
              <a:buNone/>
            </a:pP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首先，依据中国传统乐器的器物特征、历史背景与考古信息，设计适用于音乐文物研究的本体结构；其次，对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《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中国音乐文物大系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》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中的相关文本进行人工标注，形成可用于模型训练与评估的数据基础。在此基础上，项目利用 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BERT 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模型完成乐器名称、时代、材质、形制、出土地、收藏地等实体识别，并结合大语言模型进行语义关系抽取，提取乐器与时代、地域、材质、用途、文献来源之间的关联关系。最终，将抽取得到的实体与关系整合为中国传统乐器知识图谱，并进一步支持可视化展示、语义检索与知识发现。</a:t>
            </a:r>
            <a:endParaRPr lang="zh-CN" altLang="en-US" sz="4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cxnSp>
        <p:nvCxnSpPr>
          <p:cNvPr id="196" name="직선 연결선 195"/>
          <p:cNvCxnSpPr/>
          <p:nvPr/>
        </p:nvCxnSpPr>
        <p:spPr>
          <a:xfrm>
            <a:off x="0" y="11680723"/>
            <a:ext cx="3027521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97" name="직선 연결선 196"/>
          <p:cNvCxnSpPr/>
          <p:nvPr/>
        </p:nvCxnSpPr>
        <p:spPr>
          <a:xfrm>
            <a:off x="32798" y="22297396"/>
            <a:ext cx="3027521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2" name="직선 화살표 연결선 201"/>
          <p:cNvCxnSpPr/>
          <p:nvPr/>
        </p:nvCxnSpPr>
        <p:spPr>
          <a:xfrm flipV="1">
            <a:off x="18266462" y="14636163"/>
            <a:ext cx="1480668" cy="871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/>
          <p:cNvCxnSpPr/>
          <p:nvPr/>
        </p:nvCxnSpPr>
        <p:spPr>
          <a:xfrm flipV="1">
            <a:off x="22209629" y="14571641"/>
            <a:ext cx="1480668" cy="871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" name="그림 20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31" y="32652944"/>
            <a:ext cx="10525013" cy="3995490"/>
          </a:xfrm>
          <a:prstGeom prst="rect">
            <a:avLst/>
          </a:prstGeom>
        </p:spPr>
      </p:pic>
      <p:pic>
        <p:nvPicPr>
          <p:cNvPr id="211" name="그림 2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418" y="24845012"/>
            <a:ext cx="10574226" cy="3934374"/>
          </a:xfrm>
          <a:prstGeom prst="rect">
            <a:avLst/>
          </a:prstGeom>
        </p:spPr>
      </p:pic>
      <p:pic>
        <p:nvPicPr>
          <p:cNvPr id="213" name="그림 2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418" y="29040302"/>
            <a:ext cx="10574226" cy="3458998"/>
          </a:xfrm>
          <a:prstGeom prst="rect">
            <a:avLst/>
          </a:prstGeom>
        </p:spPr>
      </p:pic>
      <p:grpSp>
        <p:nvGrpSpPr>
          <p:cNvPr id="216" name="그룹 215"/>
          <p:cNvGrpSpPr/>
          <p:nvPr/>
        </p:nvGrpSpPr>
        <p:grpSpPr>
          <a:xfrm>
            <a:off x="516041" y="23388151"/>
            <a:ext cx="33380362" cy="1938992"/>
            <a:chOff x="659418" y="23615246"/>
            <a:chExt cx="33380362" cy="1938992"/>
          </a:xfrm>
        </p:grpSpPr>
        <p:sp>
          <p:nvSpPr>
            <p:cNvPr id="205" name="TextBox 204"/>
            <p:cNvSpPr txBox="1"/>
            <p:nvPr/>
          </p:nvSpPr>
          <p:spPr>
            <a:xfrm>
              <a:off x="659418" y="23615246"/>
              <a:ext cx="22250400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6000" b="1" dirty="0">
                  <a:solidFill>
                    <a:srgbClr val="91000C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语义检索</a:t>
              </a:r>
              <a:endParaRPr lang="zh-CN" altLang="en-US" sz="6000" b="1" dirty="0">
                <a:solidFill>
                  <a:srgbClr val="91000C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  <a:p>
              <a:pPr algn="l"/>
              <a:endParaRPr lang="zh-CN" altLang="en-US" sz="6000" b="1" dirty="0">
                <a:solidFill>
                  <a:srgbClr val="91000C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11779856" y="23615246"/>
              <a:ext cx="22259924" cy="10147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6000" b="1" dirty="0">
                  <a:solidFill>
                    <a:srgbClr val="91000C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可视化展示与分析</a:t>
              </a:r>
              <a:endParaRPr lang="zh-CN" altLang="en-US" sz="6000" b="1" dirty="0">
                <a:solidFill>
                  <a:srgbClr val="91000C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pic>
        <p:nvPicPr>
          <p:cNvPr id="217" name="그림 2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22435" y="29040455"/>
            <a:ext cx="7920990" cy="3862705"/>
          </a:xfrm>
          <a:prstGeom prst="rect">
            <a:avLst/>
          </a:prstGeom>
        </p:spPr>
      </p:pic>
      <p:pic>
        <p:nvPicPr>
          <p:cNvPr id="218" name="그림 2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39905" y="32499300"/>
            <a:ext cx="9734550" cy="5120005"/>
          </a:xfrm>
          <a:prstGeom prst="rect">
            <a:avLst/>
          </a:prstGeom>
        </p:spPr>
      </p:pic>
      <p:pic>
        <p:nvPicPr>
          <p:cNvPr id="219" name="그림 2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965796" y="24402971"/>
            <a:ext cx="7977641" cy="4154984"/>
          </a:xfrm>
          <a:prstGeom prst="rect">
            <a:avLst/>
          </a:prstGeom>
        </p:spPr>
      </p:pic>
      <p:pic>
        <p:nvPicPr>
          <p:cNvPr id="222" name="그림 2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34500" y="33414970"/>
            <a:ext cx="7810500" cy="4204335"/>
          </a:xfrm>
          <a:prstGeom prst="rect">
            <a:avLst/>
          </a:prstGeom>
        </p:spPr>
      </p:pic>
      <p:cxnSp>
        <p:nvCxnSpPr>
          <p:cNvPr id="224" name="직선 연결선 223"/>
          <p:cNvCxnSpPr/>
          <p:nvPr/>
        </p:nvCxnSpPr>
        <p:spPr>
          <a:xfrm>
            <a:off x="11495004" y="22450424"/>
            <a:ext cx="102530" cy="20170121"/>
          </a:xfrm>
          <a:prstGeom prst="line">
            <a:avLst/>
          </a:prstGeom>
          <a:ln w="381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11858894" y="37916933"/>
            <a:ext cx="18244057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本系统基于中国传统乐器知识图谱，设计了多种可视化分析功能，包括省份分布可视化、乐器类型分布分析、乐器类型演变趋势分析、乐器组合共现关系分析以及“地区</a:t>
            </a:r>
            <a:r>
              <a:rPr lang="en-US" altLang="zh-CN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—</a:t>
            </a:r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乐器类型”热力图分析。通过地图、层级图、趋势图、关系网络和热力图等形式，系统能够直观展示乐器文物在地域、时代、类型和组合关系上的分布特征，支持用户对中国传统乐器的历史演变、区域差异和文化关联进行进一步探索。</a:t>
            </a:r>
            <a:endParaRPr lang="ko-KR" altLang="en-US" sz="4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472334" y="36648434"/>
            <a:ext cx="10793474" cy="5507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系统支持基于名称、时代、地区、乐器类型、纹饰与机构等条件的语义检索与多维筛选。检索结果不仅展示文物的基本信息和识别实体标签，还可根据类型、时代、地域、形制和纹饰等特征推荐相似文物，帮助用户快速发现乐器文物之间的关联关系，实现从“关键词查询”到“知识发现”的转化。</a:t>
            </a:r>
            <a:endParaRPr lang="ko-KR" altLang="en-US" sz="44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2" name="图片 1" descr="屏幕截图 2026-06-07 230220"/>
          <p:cNvPicPr>
            <a:picLocks noChangeAspect="1"/>
          </p:cNvPicPr>
          <p:nvPr/>
        </p:nvPicPr>
        <p:blipFill>
          <a:blip r:embed="rId16"/>
          <a:srcRect l="13394" t="15242" r="15917"/>
          <a:stretch>
            <a:fillRect/>
          </a:stretch>
        </p:blipFill>
        <p:spPr>
          <a:xfrm>
            <a:off x="11939905" y="24845010"/>
            <a:ext cx="9695815" cy="717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1008</Words>
  <Application>WPS 演示</Application>
  <PresentationFormat>사용자 지정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隶书</vt:lpstr>
      <vt:lpstr>微软雅黑</vt:lpstr>
      <vt:lpstr>Calibri</vt:lpstr>
      <vt:lpstr>Arial Unicode MS</vt:lpstr>
      <vt:lpstr>Malgun Gothic</vt:lpstr>
      <vt:lpstr>Calibri Light</vt:lpstr>
      <vt:lpstr>等线</vt:lpstr>
      <vt:lpstr>华文中宋</vt:lpstr>
      <vt:lpstr>Office 테마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Jiwon Jung</dc:creator>
  <cp:lastModifiedBy>一只傻狗</cp:lastModifiedBy>
  <cp:revision>2</cp:revision>
  <dcterms:created xsi:type="dcterms:W3CDTF">2026-06-07T14:33:00Z</dcterms:created>
  <dcterms:modified xsi:type="dcterms:W3CDTF">2026-06-07T15:58:12Z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A6DD770725084143A74FD031776E8064_13</vt:lpwstr>
  </property>
</Properties>
</file>